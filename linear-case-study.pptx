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94"/>
  </p:normalViewPr>
  <p:slideViewPr>
    <p:cSldViewPr snapToGrid="0">
      <p:cViewPr varScale="1">
        <p:scale>
          <a:sx n="107" d="100"/>
          <a:sy n="107" d="100"/>
        </p:scale>
        <p:origin x="928"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51FACC-0CA7-CA4F-97ED-74A811382F7C}" type="datetimeFigureOut">
              <a:rPr lang="en-US" smtClean="0"/>
              <a:t>11/24/25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890F4F-8883-6542-BC45-B6BF82BFA921}" type="slidenum">
              <a:rPr lang="en-US" smtClean="0"/>
              <a:t>‹#›</a:t>
            </a:fld>
            <a:endParaRPr lang="en-US"/>
          </a:p>
        </p:txBody>
      </p:sp>
    </p:spTree>
    <p:extLst>
      <p:ext uri="{BB962C8B-B14F-4D97-AF65-F5344CB8AC3E}">
        <p14:creationId xmlns:p14="http://schemas.microsoft.com/office/powerpoint/2010/main" val="2166205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 and alternative</a:t>
            </a:r>
          </a:p>
        </p:txBody>
      </p:sp>
      <p:sp>
        <p:nvSpPr>
          <p:cNvPr id="4" name="Slide Number Placeholder 3"/>
          <p:cNvSpPr>
            <a:spLocks noGrp="1"/>
          </p:cNvSpPr>
          <p:nvPr>
            <p:ph type="sldNum" sz="quarter" idx="5"/>
          </p:nvPr>
        </p:nvSpPr>
        <p:spPr/>
        <p:txBody>
          <a:bodyPr/>
          <a:lstStyle/>
          <a:p>
            <a:fld id="{93890F4F-8883-6542-BC45-B6BF82BFA921}" type="slidenum">
              <a:rPr lang="en-US" smtClean="0"/>
              <a:t>2</a:t>
            </a:fld>
            <a:endParaRPr lang="en-US"/>
          </a:p>
        </p:txBody>
      </p:sp>
    </p:spTree>
    <p:extLst>
      <p:ext uri="{BB962C8B-B14F-4D97-AF65-F5344CB8AC3E}">
        <p14:creationId xmlns:p14="http://schemas.microsoft.com/office/powerpoint/2010/main" val="2412273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11/24/25</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11/24/25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11/24/25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11/24/25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11/24/25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11/24/25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11/24/25</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11/24/25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11/24/25</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CDA38-F41B-6410-8F84-68476B6A566A}"/>
              </a:ext>
            </a:extLst>
          </p:cNvPr>
          <p:cNvSpPr>
            <a:spLocks noGrp="1"/>
          </p:cNvSpPr>
          <p:nvPr>
            <p:ph type="ctrTitle"/>
          </p:nvPr>
        </p:nvSpPr>
        <p:spPr/>
        <p:txBody>
          <a:bodyPr/>
          <a:lstStyle/>
          <a:p>
            <a:r>
              <a:rPr lang="en-US" dirty="0"/>
              <a:t>Interest rate prediction</a:t>
            </a:r>
          </a:p>
        </p:txBody>
      </p:sp>
      <p:sp>
        <p:nvSpPr>
          <p:cNvPr id="3" name="Subtitle 2">
            <a:extLst>
              <a:ext uri="{FF2B5EF4-FFF2-40B4-BE49-F238E27FC236}">
                <a16:creationId xmlns:a16="http://schemas.microsoft.com/office/drawing/2014/main" id="{5E16B1EA-E6FA-165F-E7A1-9E4CC826CA0B}"/>
              </a:ext>
            </a:extLst>
          </p:cNvPr>
          <p:cNvSpPr>
            <a:spLocks noGrp="1"/>
          </p:cNvSpPr>
          <p:nvPr>
            <p:ph type="subTitle" idx="1"/>
          </p:nvPr>
        </p:nvSpPr>
        <p:spPr/>
        <p:txBody>
          <a:bodyPr/>
          <a:lstStyle/>
          <a:p>
            <a:r>
              <a:rPr lang="en-US" dirty="0"/>
              <a:t>Via analysis of past investment trends</a:t>
            </a:r>
          </a:p>
          <a:p>
            <a:r>
              <a:rPr lang="en-US" dirty="0"/>
              <a:t>Authors: hung, n. ;  </a:t>
            </a:r>
            <a:r>
              <a:rPr lang="en-US" dirty="0" err="1"/>
              <a:t>angerame</a:t>
            </a:r>
            <a:r>
              <a:rPr lang="en-US" dirty="0"/>
              <a:t>, s. ;  Mcleaish s.</a:t>
            </a:r>
          </a:p>
        </p:txBody>
      </p:sp>
    </p:spTree>
    <p:extLst>
      <p:ext uri="{BB962C8B-B14F-4D97-AF65-F5344CB8AC3E}">
        <p14:creationId xmlns:p14="http://schemas.microsoft.com/office/powerpoint/2010/main" val="13244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DFF65-96BC-C800-FAAF-41E9FEB1D9BF}"/>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40348DB8-2EDD-AA7D-E7C5-E85ACE91D963}"/>
              </a:ext>
            </a:extLst>
          </p:cNvPr>
          <p:cNvSpPr>
            <a:spLocks noGrp="1"/>
          </p:cNvSpPr>
          <p:nvPr>
            <p:ph idx="1"/>
          </p:nvPr>
        </p:nvSpPr>
        <p:spPr/>
        <p:txBody>
          <a:bodyPr/>
          <a:lstStyle/>
          <a:p>
            <a:r>
              <a:rPr lang="en-US" dirty="0"/>
              <a:t>H</a:t>
            </a:r>
            <a:r>
              <a:rPr lang="en-US" baseline="-25000" dirty="0"/>
              <a:t>0 </a:t>
            </a:r>
            <a:r>
              <a:rPr lang="en-US" dirty="0"/>
              <a:t>: The amount being requested, the customer FICO score, and the length of the loan will have no effect on the interest rate being offered.</a:t>
            </a:r>
            <a:endParaRPr lang="en-US" baseline="-25000" dirty="0"/>
          </a:p>
          <a:p>
            <a:r>
              <a:rPr lang="en-US" dirty="0"/>
              <a:t>H</a:t>
            </a:r>
            <a:r>
              <a:rPr lang="en-US" baseline="-25000" dirty="0"/>
              <a:t>1 </a:t>
            </a:r>
            <a:r>
              <a:rPr lang="en-US" dirty="0"/>
              <a:t>: The amount being requested, the customer FICO score, and the length of the loan will have a correlation to the interest rate being offered. </a:t>
            </a:r>
          </a:p>
        </p:txBody>
      </p:sp>
    </p:spTree>
    <p:extLst>
      <p:ext uri="{BB962C8B-B14F-4D97-AF65-F5344CB8AC3E}">
        <p14:creationId xmlns:p14="http://schemas.microsoft.com/office/powerpoint/2010/main" val="1032063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383EF-81A6-9559-07B4-E5BE0235815F}"/>
              </a:ext>
            </a:extLst>
          </p:cNvPr>
          <p:cNvSpPr>
            <a:spLocks noGrp="1"/>
          </p:cNvSpPr>
          <p:nvPr>
            <p:ph type="title"/>
          </p:nvPr>
        </p:nvSpPr>
        <p:spPr/>
        <p:txBody>
          <a:bodyPr/>
          <a:lstStyle/>
          <a:p>
            <a:r>
              <a:rPr lang="en-US" dirty="0"/>
              <a:t>Testing h</a:t>
            </a:r>
            <a:r>
              <a:rPr lang="en-US" baseline="-25000" dirty="0"/>
              <a:t>0</a:t>
            </a:r>
            <a:r>
              <a:rPr lang="en-US" dirty="0"/>
              <a:t> </a:t>
            </a:r>
          </a:p>
        </p:txBody>
      </p:sp>
      <p:sp>
        <p:nvSpPr>
          <p:cNvPr id="3" name="Content Placeholder 2">
            <a:extLst>
              <a:ext uri="{FF2B5EF4-FFF2-40B4-BE49-F238E27FC236}">
                <a16:creationId xmlns:a16="http://schemas.microsoft.com/office/drawing/2014/main" id="{2A91E3AC-7D11-1FEA-9050-D9BA6735189C}"/>
              </a:ext>
            </a:extLst>
          </p:cNvPr>
          <p:cNvSpPr>
            <a:spLocks noGrp="1"/>
          </p:cNvSpPr>
          <p:nvPr>
            <p:ph idx="1"/>
          </p:nvPr>
        </p:nvSpPr>
        <p:spPr/>
        <p:txBody>
          <a:bodyPr>
            <a:normAutofit fontScale="92500" lnSpcReduction="20000"/>
          </a:bodyPr>
          <a:lstStyle/>
          <a:p>
            <a:r>
              <a:rPr lang="en-US" dirty="0"/>
              <a:t>The data was first scaled, then a linear regression model was fit with a training split of 0.2</a:t>
            </a:r>
          </a:p>
          <a:p>
            <a:r>
              <a:rPr lang="en-US" dirty="0"/>
              <a:t>The FICO score coefficient is about -0.0877, with a 95% confidence interval from approximately -0.090 to -0.085, and a p-value effectively zero. This indicates a strong and statistically significant negative correlation: as the average FICO score increases, the interest rate tends to decrease.</a:t>
            </a:r>
          </a:p>
          <a:p>
            <a:r>
              <a:rPr lang="en-US" dirty="0"/>
              <a:t>The loan length coefficient is approximately 0.1372, with a narrow 95% confidence interval from about 0.128 to 0.146. The p-value is zero, indicating a very strong positive correlation.</a:t>
            </a:r>
          </a:p>
          <a:p>
            <a:r>
              <a:rPr lang="en-US" dirty="0"/>
              <a:t>The amount requested coefficient is very small but positive (around 0.0001). The associated  p-value is effectively zero, indicating a highly significant positive correlation. This means that as the requested amount increases, the interest rate tends to increase slightly.</a:t>
            </a:r>
          </a:p>
        </p:txBody>
      </p:sp>
    </p:spTree>
    <p:extLst>
      <p:ext uri="{BB962C8B-B14F-4D97-AF65-F5344CB8AC3E}">
        <p14:creationId xmlns:p14="http://schemas.microsoft.com/office/powerpoint/2010/main" val="2652368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3C7C-E180-7505-3CE8-58387FB9ECAD}"/>
              </a:ext>
            </a:extLst>
          </p:cNvPr>
          <p:cNvSpPr>
            <a:spLocks noGrp="1"/>
          </p:cNvSpPr>
          <p:nvPr>
            <p:ph type="title"/>
          </p:nvPr>
        </p:nvSpPr>
        <p:spPr/>
        <p:txBody>
          <a:bodyPr/>
          <a:lstStyle/>
          <a:p>
            <a:r>
              <a:rPr lang="en-US" dirty="0"/>
              <a:t>Visualizing the test</a:t>
            </a:r>
          </a:p>
        </p:txBody>
      </p:sp>
      <p:pic>
        <p:nvPicPr>
          <p:cNvPr id="4" name="Content Placeholder 3">
            <a:extLst>
              <a:ext uri="{FF2B5EF4-FFF2-40B4-BE49-F238E27FC236}">
                <a16:creationId xmlns:a16="http://schemas.microsoft.com/office/drawing/2014/main" id="{DE5791CE-8353-805D-6A19-C6D4732BBE21}"/>
              </a:ext>
            </a:extLst>
          </p:cNvPr>
          <p:cNvPicPr>
            <a:picLocks noGrp="1" noChangeAspect="1"/>
          </p:cNvPicPr>
          <p:nvPr>
            <p:ph idx="1"/>
          </p:nvPr>
        </p:nvPicPr>
        <p:blipFill>
          <a:blip r:embed="rId2"/>
          <a:stretch>
            <a:fillRect/>
          </a:stretch>
        </p:blipFill>
        <p:spPr>
          <a:xfrm>
            <a:off x="1451579" y="2096807"/>
            <a:ext cx="4483898" cy="3449638"/>
          </a:xfrm>
          <a:prstGeom prst="rect">
            <a:avLst/>
          </a:prstGeom>
        </p:spPr>
      </p:pic>
      <p:sp>
        <p:nvSpPr>
          <p:cNvPr id="11" name="TextBox 10">
            <a:extLst>
              <a:ext uri="{FF2B5EF4-FFF2-40B4-BE49-F238E27FC236}">
                <a16:creationId xmlns:a16="http://schemas.microsoft.com/office/drawing/2014/main" id="{BED500C9-62BC-1325-8712-5C095C9E9170}"/>
              </a:ext>
            </a:extLst>
          </p:cNvPr>
          <p:cNvSpPr txBox="1"/>
          <p:nvPr/>
        </p:nvSpPr>
        <p:spPr>
          <a:xfrm>
            <a:off x="6096000" y="2090057"/>
            <a:ext cx="4958854" cy="2585323"/>
          </a:xfrm>
          <a:prstGeom prst="rect">
            <a:avLst/>
          </a:prstGeom>
          <a:noFill/>
        </p:spPr>
        <p:txBody>
          <a:bodyPr wrap="square" rtlCol="0">
            <a:spAutoFit/>
          </a:bodyPr>
          <a:lstStyle/>
          <a:p>
            <a:r>
              <a:rPr lang="en-US" dirty="0"/>
              <a:t>The residuals are the differences between the actual values and the predicted values from the model. By analyzing residuals, we check if the model is overfitting. Randomly distributed residuals around zero indicate a good model fit without overfitting.</a:t>
            </a:r>
          </a:p>
          <a:p>
            <a:endParaRPr lang="en-US" dirty="0"/>
          </a:p>
          <a:p>
            <a:r>
              <a:rPr lang="en-US" dirty="0"/>
              <a:t>We conclude that our model is an adequate fit to the test data.</a:t>
            </a:r>
          </a:p>
        </p:txBody>
      </p:sp>
    </p:spTree>
    <p:extLst>
      <p:ext uri="{BB962C8B-B14F-4D97-AF65-F5344CB8AC3E}">
        <p14:creationId xmlns:p14="http://schemas.microsoft.com/office/powerpoint/2010/main" val="127770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9D232-177F-C081-7E53-CD0329DF3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BDE27-6CE7-234B-D3CD-42EFF3E7EF22}"/>
              </a:ext>
            </a:extLst>
          </p:cNvPr>
          <p:cNvSpPr>
            <a:spLocks noGrp="1"/>
          </p:cNvSpPr>
          <p:nvPr>
            <p:ph type="title"/>
          </p:nvPr>
        </p:nvSpPr>
        <p:spPr/>
        <p:txBody>
          <a:bodyPr/>
          <a:lstStyle/>
          <a:p>
            <a:r>
              <a:rPr lang="en-US" dirty="0"/>
              <a:t>Visualizing the test (CONT.)</a:t>
            </a:r>
          </a:p>
        </p:txBody>
      </p:sp>
      <p:sp>
        <p:nvSpPr>
          <p:cNvPr id="11" name="TextBox 10">
            <a:extLst>
              <a:ext uri="{FF2B5EF4-FFF2-40B4-BE49-F238E27FC236}">
                <a16:creationId xmlns:a16="http://schemas.microsoft.com/office/drawing/2014/main" id="{0D04EEEC-4872-4BED-73B8-4239DD2A3CB9}"/>
              </a:ext>
            </a:extLst>
          </p:cNvPr>
          <p:cNvSpPr txBox="1"/>
          <p:nvPr/>
        </p:nvSpPr>
        <p:spPr>
          <a:xfrm>
            <a:off x="6096000" y="2090057"/>
            <a:ext cx="4958854" cy="923330"/>
          </a:xfrm>
          <a:prstGeom prst="rect">
            <a:avLst/>
          </a:prstGeom>
          <a:noFill/>
        </p:spPr>
        <p:txBody>
          <a:bodyPr wrap="square" rtlCol="0">
            <a:spAutoFit/>
          </a:bodyPr>
          <a:lstStyle/>
          <a:p>
            <a:r>
              <a:rPr lang="en-US" dirty="0"/>
              <a:t>Overlaying the predictions of our model with the test data shows a similar distribution, consistent with the results of our OLS regression.</a:t>
            </a:r>
          </a:p>
        </p:txBody>
      </p:sp>
      <p:sp>
        <p:nvSpPr>
          <p:cNvPr id="5" name="Content Placeholder 4">
            <a:extLst>
              <a:ext uri="{FF2B5EF4-FFF2-40B4-BE49-F238E27FC236}">
                <a16:creationId xmlns:a16="http://schemas.microsoft.com/office/drawing/2014/main" id="{01CFBF31-B3FE-0ED7-D911-7A9217FAFA39}"/>
              </a:ext>
            </a:extLst>
          </p:cNvPr>
          <p:cNvSpPr>
            <a:spLocks noGrp="1"/>
          </p:cNvSpPr>
          <p:nvPr>
            <p:ph idx="1"/>
          </p:nvPr>
        </p:nvSpPr>
        <p:spPr>
          <a:xfrm>
            <a:off x="1451579" y="2015732"/>
            <a:ext cx="4344103" cy="3450613"/>
          </a:xfrm>
        </p:spPr>
        <p:txBody>
          <a:bodyPr/>
          <a:lstStyle/>
          <a:p>
            <a:endParaRPr lang="en-US" dirty="0"/>
          </a:p>
        </p:txBody>
      </p:sp>
      <p:pic>
        <p:nvPicPr>
          <p:cNvPr id="7" name="Picture 6">
            <a:extLst>
              <a:ext uri="{FF2B5EF4-FFF2-40B4-BE49-F238E27FC236}">
                <a16:creationId xmlns:a16="http://schemas.microsoft.com/office/drawing/2014/main" id="{EDB39E2D-0AA4-78C4-6F7D-4382876E39BA}"/>
              </a:ext>
            </a:extLst>
          </p:cNvPr>
          <p:cNvPicPr>
            <a:picLocks noChangeAspect="1"/>
          </p:cNvPicPr>
          <p:nvPr/>
        </p:nvPicPr>
        <p:blipFill>
          <a:blip r:embed="rId2"/>
          <a:stretch>
            <a:fillRect/>
          </a:stretch>
        </p:blipFill>
        <p:spPr>
          <a:xfrm>
            <a:off x="1451579" y="2015732"/>
            <a:ext cx="4544349" cy="3726775"/>
          </a:xfrm>
          <a:prstGeom prst="rect">
            <a:avLst/>
          </a:prstGeom>
        </p:spPr>
      </p:pic>
    </p:spTree>
    <p:extLst>
      <p:ext uri="{BB962C8B-B14F-4D97-AF65-F5344CB8AC3E}">
        <p14:creationId xmlns:p14="http://schemas.microsoft.com/office/powerpoint/2010/main" val="2574424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AFF02-943D-308B-EDD9-8CD5A6A83FB3}"/>
              </a:ext>
            </a:extLst>
          </p:cNvPr>
          <p:cNvSpPr>
            <a:spLocks noGrp="1"/>
          </p:cNvSpPr>
          <p:nvPr>
            <p:ph type="title"/>
          </p:nvPr>
        </p:nvSpPr>
        <p:spPr/>
        <p:txBody>
          <a:bodyPr/>
          <a:lstStyle/>
          <a:p>
            <a:r>
              <a:rPr lang="en-US" dirty="0"/>
              <a:t>Findings</a:t>
            </a:r>
          </a:p>
        </p:txBody>
      </p:sp>
      <p:sp>
        <p:nvSpPr>
          <p:cNvPr id="3" name="Content Placeholder 2">
            <a:extLst>
              <a:ext uri="{FF2B5EF4-FFF2-40B4-BE49-F238E27FC236}">
                <a16:creationId xmlns:a16="http://schemas.microsoft.com/office/drawing/2014/main" id="{559C99B0-5868-E8B7-FDC4-E21D6F8BC994}"/>
              </a:ext>
            </a:extLst>
          </p:cNvPr>
          <p:cNvSpPr>
            <a:spLocks noGrp="1"/>
          </p:cNvSpPr>
          <p:nvPr>
            <p:ph idx="1"/>
          </p:nvPr>
        </p:nvSpPr>
        <p:spPr/>
        <p:txBody>
          <a:bodyPr/>
          <a:lstStyle/>
          <a:p>
            <a:r>
              <a:rPr lang="en-US" dirty="0"/>
              <a:t>We reject the null hypothesis and conclude there is a statistically significant correlation between the amount being requested, the customer FICO score, and the length of the loan will have a correlation to the interest rate being offered. </a:t>
            </a:r>
          </a:p>
          <a:p>
            <a:r>
              <a:rPr lang="en-US" dirty="0"/>
              <a:t>These independent variables can be used to make a predictive analysis of probable interest rates for future loan offers. </a:t>
            </a:r>
          </a:p>
        </p:txBody>
      </p:sp>
    </p:spTree>
    <p:extLst>
      <p:ext uri="{BB962C8B-B14F-4D97-AF65-F5344CB8AC3E}">
        <p14:creationId xmlns:p14="http://schemas.microsoft.com/office/powerpoint/2010/main" val="3142986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50</TotalTime>
  <Words>389</Words>
  <Application>Microsoft Macintosh PowerPoint</Application>
  <PresentationFormat>Widescreen</PresentationFormat>
  <Paragraphs>22</Paragraphs>
  <Slides>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Gill Sans MT</vt:lpstr>
      <vt:lpstr>Gallery</vt:lpstr>
      <vt:lpstr>Interest rate prediction</vt:lpstr>
      <vt:lpstr>hypothesis</vt:lpstr>
      <vt:lpstr>Testing h0 </vt:lpstr>
      <vt:lpstr>Visualizing the test</vt:lpstr>
      <vt:lpstr>Visualizing the test (CONT.)</vt:lpstr>
      <vt:lpstr>Findings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Mcleaish, Sean R SFC USARMY USSOCOM USASOC (USA)</dc:creator>
  <cp:lastModifiedBy>Mcleaish, Sean R SFC USARMY USSOCOM USASOC (USA)</cp:lastModifiedBy>
  <cp:revision>1</cp:revision>
  <dcterms:created xsi:type="dcterms:W3CDTF">2025-11-24T20:33:42Z</dcterms:created>
  <dcterms:modified xsi:type="dcterms:W3CDTF">2025-11-24T21:24:11Z</dcterms:modified>
</cp:coreProperties>
</file>